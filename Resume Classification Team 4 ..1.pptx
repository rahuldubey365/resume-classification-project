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30"/>
  </p:notesMasterIdLst>
  <p:sldIdLst>
    <p:sldId id="274" r:id="rId5"/>
    <p:sldId id="308" r:id="rId6"/>
    <p:sldId id="309" r:id="rId7"/>
    <p:sldId id="344" r:id="rId8"/>
    <p:sldId id="310" r:id="rId9"/>
    <p:sldId id="311" r:id="rId10"/>
    <p:sldId id="327" r:id="rId11"/>
    <p:sldId id="313" r:id="rId12"/>
    <p:sldId id="314" r:id="rId13"/>
    <p:sldId id="328" r:id="rId14"/>
    <p:sldId id="329" r:id="rId15"/>
    <p:sldId id="330" r:id="rId16"/>
    <p:sldId id="332" r:id="rId17"/>
    <p:sldId id="333" r:id="rId18"/>
    <p:sldId id="334" r:id="rId19"/>
    <p:sldId id="335" r:id="rId20"/>
    <p:sldId id="338" r:id="rId21"/>
    <p:sldId id="337" r:id="rId22"/>
    <p:sldId id="336" r:id="rId23"/>
    <p:sldId id="339" r:id="rId24"/>
    <p:sldId id="340" r:id="rId25"/>
    <p:sldId id="341" r:id="rId26"/>
    <p:sldId id="342" r:id="rId27"/>
    <p:sldId id="343" r:id="rId28"/>
    <p:sldId id="34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19" autoAdjust="0"/>
  </p:normalViewPr>
  <p:slideViewPr>
    <p:cSldViewPr snapToGrid="0">
      <p:cViewPr varScale="1">
        <p:scale>
          <a:sx n="88" d="100"/>
          <a:sy n="88" d="100"/>
        </p:scale>
        <p:origin x="21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8DDDEA-63BC-40A0-8BC0-D6413F38691F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6F76E-E60C-4C54-B47A-C2C406EC8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483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72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562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859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235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114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77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586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xmlns="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xmlns="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53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84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65219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37">
            <a:extLst>
              <a:ext uri="{FF2B5EF4-FFF2-40B4-BE49-F238E27FC236}">
                <a16:creationId xmlns:a16="http://schemas.microsoft.com/office/drawing/2014/main" xmlns="" id="{6B695AA2-4B70-477F-AF90-536B720A134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F0B92F21-44D0-49F2-B59D-6723737D9B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19270" y="0"/>
            <a:ext cx="1263053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67375"/>
            <a:ext cx="6498033" cy="2226127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>
                    <a:lumMod val="85000"/>
                    <a:lumOff val="15000"/>
                  </a:schemeClr>
                </a:solidFill>
                <a:latin typeface="Algerian" panose="04020705040A02060702" pitchFamily="82" charset="0"/>
              </a:rPr>
              <a:t>Resume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699" y="4152123"/>
            <a:ext cx="2720392" cy="590321"/>
          </a:xfrm>
        </p:spPr>
        <p:txBody>
          <a:bodyPr>
            <a:normAutofit fontScale="62500" lnSpcReduction="20000"/>
          </a:bodyPr>
          <a:lstStyle/>
          <a:p>
            <a:r>
              <a:rPr lang="en-US" sz="5400" dirty="0">
                <a:solidFill>
                  <a:schemeClr val="bg1">
                    <a:lumMod val="85000"/>
                    <a:lumOff val="15000"/>
                  </a:schemeClr>
                </a:solidFill>
                <a:latin typeface="Algerian" panose="04020705040A02060702" pitchFamily="82" charset="0"/>
                <a:ea typeface="+mj-ea"/>
                <a:cs typeface="+mj-cs"/>
              </a:rPr>
              <a:t>Team 4</a:t>
            </a:r>
          </a:p>
        </p:txBody>
      </p:sp>
    </p:spTree>
    <p:extLst>
      <p:ext uri="{BB962C8B-B14F-4D97-AF65-F5344CB8AC3E}">
        <p14:creationId xmlns:p14="http://schemas.microsoft.com/office/powerpoint/2010/main" val="12052488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C2CADE-88CD-8544-25CF-196D5528A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latin typeface="Algerian" panose="04020705040A02060702" pitchFamily="82" charset="0"/>
              </a:rPr>
              <a:t>Team</a:t>
            </a:r>
            <a:r>
              <a:rPr lang="en-US" sz="6000" dirty="0"/>
              <a:t> </a:t>
            </a:r>
            <a:r>
              <a:rPr lang="en-US" sz="6000" dirty="0">
                <a:latin typeface="Algerian" panose="04020705040A02060702" pitchFamily="82" charset="0"/>
              </a:rPr>
              <a:t>members</a:t>
            </a:r>
            <a:endParaRPr lang="en-IN" sz="60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8AAB296-4D59-7AB5-6C40-C7424F83A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898064"/>
            <a:ext cx="4895877" cy="395993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>
                <a:latin typeface="Bahnschrift" panose="020B0502040204020203" pitchFamily="34" charset="0"/>
              </a:rPr>
              <a:t>TEAM MEMBERS: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latin typeface="Bahnschrift" panose="020B0502040204020203" pitchFamily="34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Rahul Kumar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Dubey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Mr.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Prasanth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Chaitanya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Ms. Gaganasindhu Y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Hadagali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Mr. Prajwal Ambure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Mr. Hari Prasath P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Akanksha Bhalerao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35A5962-84E8-7D9C-A78B-2DE2AA25EA35}"/>
              </a:ext>
            </a:extLst>
          </p:cNvPr>
          <p:cNvSpPr txBox="1"/>
          <p:nvPr/>
        </p:nvSpPr>
        <p:spPr>
          <a:xfrm>
            <a:off x="581191" y="2004698"/>
            <a:ext cx="60528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Bahnschrift" panose="020B0502040204020203" pitchFamily="34" charset="0"/>
              </a:rPr>
              <a:t>MENTOR’S NAME </a:t>
            </a:r>
            <a:r>
              <a:rPr lang="en-IN" sz="2800" dirty="0"/>
              <a:t>: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Mr.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Abisheka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Kavuri 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618901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FD4A27E-D9CF-3BD0-71DB-F83E0547B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885" y="1504589"/>
            <a:ext cx="11029616" cy="118872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800" dirty="0">
                <a:solidFill>
                  <a:schemeClr val="tx1"/>
                </a:solidFill>
                <a:latin typeface="Algerian" panose="04020705040A02060702" pitchFamily="82" charset="0"/>
              </a:rPr>
              <a:t>Business Objective</a:t>
            </a:r>
            <a:r>
              <a:rPr lang="en-IN" sz="2800" dirty="0">
                <a:solidFill>
                  <a:schemeClr val="tx1"/>
                </a:solidFill>
                <a:latin typeface="Algerian" panose="04020705040A02060702" pitchFamily="82" charset="0"/>
              </a:rPr>
              <a:t/>
            </a:r>
            <a:br>
              <a:rPr lang="en-IN" sz="2800" dirty="0">
                <a:solidFill>
                  <a:schemeClr val="tx1"/>
                </a:solidFill>
                <a:latin typeface="Algerian" panose="04020705040A02060702" pitchFamily="82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189B3EA-473B-995D-F283-BDB30426F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23623"/>
            <a:ext cx="11306008" cy="3634486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document classification solution should significantly reduce the manual human effort in the HRM .It should achieve a higher level of accuracy and automation with minimal human intervention.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1330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50B072-AAB0-D71D-C07A-724C61E9F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2735" y="882650"/>
            <a:ext cx="4254969" cy="603252"/>
          </a:xfrm>
        </p:spPr>
        <p:txBody>
          <a:bodyPr>
            <a:no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DATASET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CF884D4-2A25-7584-B71A-ED92C7F2A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485902"/>
            <a:ext cx="11138057" cy="5372098"/>
          </a:xfrm>
        </p:spPr>
        <p:txBody>
          <a:bodyPr/>
          <a:lstStyle/>
          <a:p>
            <a:r>
              <a:rPr lang="en-US" sz="2000" dirty="0"/>
              <a:t>The dataset used in this project consists of resumes collected in document format and organized into category-wise folders.</a:t>
            </a:r>
          </a:p>
          <a:p>
            <a:r>
              <a:rPr lang="en-US" sz="2000" dirty="0"/>
              <a:t>Each resume belongs to one of four job roles: </a:t>
            </a:r>
            <a:r>
              <a:rPr lang="en-US" sz="2000" b="1" dirty="0"/>
              <a:t>Peoplesoft Resume, React Developer, SQL Developer, and Workday</a:t>
            </a:r>
            <a:r>
              <a:rPr lang="en-US" sz="2000" dirty="0"/>
              <a:t>, which act as the target classes.</a:t>
            </a:r>
          </a:p>
          <a:p>
            <a:r>
              <a:rPr lang="en-US" sz="2000" dirty="0"/>
              <a:t>The resumes contain unstructured textual information such as skills, experience, education, and technical keywords.</a:t>
            </a:r>
          </a:p>
          <a:p>
            <a:r>
              <a:rPr lang="en-US" sz="2000" dirty="0"/>
              <a:t>After text extraction, the data was converted into a structured dataset with clearly defined resume text and corresponding job category labels.</a:t>
            </a:r>
          </a:p>
          <a:p>
            <a:r>
              <a:rPr lang="en-US" sz="2000" dirty="0"/>
              <a:t>The dataset was verified for quality and completeness, and no missing values were found.</a:t>
            </a:r>
          </a:p>
          <a:p>
            <a:r>
              <a:rPr lang="en-US" sz="2000" dirty="0"/>
              <a:t>This clean and well-labeled dataset makes it suitable for Natural Language Processing and supervised machine learning models.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7386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64E933-BDA5-F837-9ED8-F1AC40098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4408" y="670028"/>
            <a:ext cx="7262979" cy="967146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defRPr/>
            </a:pPr>
            <a:r>
              <a:rPr lang="en-US" sz="4800" dirty="0">
                <a:latin typeface="Algerian" panose="04020705040A02060702" pitchFamily="82" charset="0"/>
              </a:rPr>
              <a:t>Project architecture</a:t>
            </a:r>
            <a:endParaRPr lang="en-IN" sz="4800" dirty="0">
              <a:latin typeface="Algerian" panose="04020705040A02060702" pitchFamily="82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xmlns="" id="{53C1A674-FF01-3455-1572-23D758C27DD9}"/>
              </a:ext>
            </a:extLst>
          </p:cNvPr>
          <p:cNvSpPr/>
          <p:nvPr/>
        </p:nvSpPr>
        <p:spPr>
          <a:xfrm>
            <a:off x="4745455" y="2531435"/>
            <a:ext cx="2570459" cy="1369296"/>
          </a:xfrm>
          <a:prstGeom prst="roundRect">
            <a:avLst>
              <a:gd name="adj" fmla="val 22118"/>
            </a:avLst>
          </a:prstGeom>
          <a:solidFill>
            <a:sysClr val="window" lastClr="FFFFFF"/>
          </a:solidFill>
          <a:ln w="15875" cap="flat" cmpd="sng" algn="ctr">
            <a:solidFill>
              <a:srgbClr val="2FA3EE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457200">
              <a:defRPr/>
            </a:pPr>
            <a:r>
              <a:rPr 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Understanding</a:t>
            </a:r>
            <a:endParaRPr lang="en-IN" sz="2400" kern="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E54E6977-4C9B-F494-390F-A06E12414EEA}"/>
              </a:ext>
            </a:extLst>
          </p:cNvPr>
          <p:cNvSpPr/>
          <p:nvPr/>
        </p:nvSpPr>
        <p:spPr>
          <a:xfrm>
            <a:off x="8665912" y="2531435"/>
            <a:ext cx="2558002" cy="1401417"/>
          </a:xfrm>
          <a:prstGeom prst="roundRect">
            <a:avLst/>
          </a:prstGeom>
          <a:solidFill>
            <a:sysClr val="window" lastClr="FFFFFF"/>
          </a:solidFill>
          <a:ln w="15875" cap="flat" cmpd="sng" algn="ctr">
            <a:solidFill>
              <a:srgbClr val="2FA3EE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Analysis(EDA)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 pitchFamily="18" charset="0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xmlns="" id="{F79778C7-7DBF-9DE3-10AB-C5D3BE2BF564}"/>
              </a:ext>
            </a:extLst>
          </p:cNvPr>
          <p:cNvSpPr/>
          <p:nvPr/>
        </p:nvSpPr>
        <p:spPr>
          <a:xfrm>
            <a:off x="8665912" y="4952730"/>
            <a:ext cx="2558002" cy="1401417"/>
          </a:xfrm>
          <a:prstGeom prst="roundRect">
            <a:avLst/>
          </a:prstGeom>
          <a:solidFill>
            <a:sysClr val="window" lastClr="FFFFFF"/>
          </a:solidFill>
          <a:ln w="15875" cap="flat" cmpd="sng" algn="ctr">
            <a:solidFill>
              <a:srgbClr val="2FA3EE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xmlns="" id="{A4534826-1718-9B36-6BF6-1C592FC1CA41}"/>
              </a:ext>
            </a:extLst>
          </p:cNvPr>
          <p:cNvSpPr/>
          <p:nvPr/>
        </p:nvSpPr>
        <p:spPr>
          <a:xfrm>
            <a:off x="4555883" y="4984852"/>
            <a:ext cx="2760031" cy="1369295"/>
          </a:xfrm>
          <a:prstGeom prst="roundRect">
            <a:avLst/>
          </a:prstGeom>
          <a:solidFill>
            <a:sysClr val="window" lastClr="FFFFFF"/>
          </a:solidFill>
          <a:ln w="15875" cap="flat" cmpd="sng" algn="ctr">
            <a:solidFill>
              <a:srgbClr val="2FA3EE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endParaRPr kumimoji="0" lang="en-IN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xmlns="" id="{AC11206D-7C27-8DFB-C1E3-701EC2C9FC49}"/>
              </a:ext>
            </a:extLst>
          </p:cNvPr>
          <p:cNvSpPr/>
          <p:nvPr/>
        </p:nvSpPr>
        <p:spPr>
          <a:xfrm>
            <a:off x="3496794" y="2973767"/>
            <a:ext cx="978408" cy="484632"/>
          </a:xfrm>
          <a:prstGeom prst="rightArrow">
            <a:avLst/>
          </a:prstGeom>
          <a:solidFill>
            <a:sysClr val="windowText" lastClr="000000"/>
          </a:solidFill>
          <a:ln w="15875" cap="flat" cmpd="sng" algn="ctr">
            <a:solidFill>
              <a:srgbClr val="2FA3EE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xmlns="" id="{9D177916-3B02-3554-14F9-65F6CA3F1014}"/>
              </a:ext>
            </a:extLst>
          </p:cNvPr>
          <p:cNvSpPr/>
          <p:nvPr/>
        </p:nvSpPr>
        <p:spPr>
          <a:xfrm>
            <a:off x="7478739" y="2973767"/>
            <a:ext cx="978408" cy="484632"/>
          </a:xfrm>
          <a:prstGeom prst="rightArrow">
            <a:avLst/>
          </a:prstGeom>
          <a:solidFill>
            <a:sysClr val="windowText" lastClr="000000"/>
          </a:solidFill>
          <a:ln w="15875" cap="flat" cmpd="sng" algn="ctr">
            <a:solidFill>
              <a:srgbClr val="2FA3EE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xmlns="" id="{2F1710B3-5D3F-7684-689B-4006D19BD573}"/>
              </a:ext>
            </a:extLst>
          </p:cNvPr>
          <p:cNvSpPr/>
          <p:nvPr/>
        </p:nvSpPr>
        <p:spPr>
          <a:xfrm>
            <a:off x="9702597" y="3990862"/>
            <a:ext cx="484632" cy="903857"/>
          </a:xfrm>
          <a:prstGeom prst="downArrow">
            <a:avLst/>
          </a:prstGeom>
          <a:solidFill>
            <a:sysClr val="windowText" lastClr="000000"/>
          </a:solidFill>
          <a:ln w="15875" cap="flat" cmpd="sng" algn="ctr">
            <a:solidFill>
              <a:srgbClr val="2FA3EE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xmlns="" id="{32C75096-6C57-43A9-B37B-3F1AEA0ECE69}"/>
              </a:ext>
            </a:extLst>
          </p:cNvPr>
          <p:cNvSpPr/>
          <p:nvPr/>
        </p:nvSpPr>
        <p:spPr>
          <a:xfrm>
            <a:off x="7514652" y="5427183"/>
            <a:ext cx="978408" cy="484632"/>
          </a:xfrm>
          <a:prstGeom prst="leftArrow">
            <a:avLst/>
          </a:prstGeom>
          <a:solidFill>
            <a:sysClr val="windowText" lastClr="000000"/>
          </a:solidFill>
          <a:ln w="15875" cap="flat" cmpd="sng" algn="ctr">
            <a:solidFill>
              <a:srgbClr val="2FA3EE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xmlns="" id="{87F21C2E-4AF5-5E84-B71E-00DE79DA9DCE}"/>
              </a:ext>
            </a:extLst>
          </p:cNvPr>
          <p:cNvSpPr/>
          <p:nvPr/>
        </p:nvSpPr>
        <p:spPr>
          <a:xfrm>
            <a:off x="656082" y="2621566"/>
            <a:ext cx="2570459" cy="1369296"/>
          </a:xfrm>
          <a:prstGeom prst="roundRect">
            <a:avLst>
              <a:gd name="adj" fmla="val 22118"/>
            </a:avLst>
          </a:prstGeom>
          <a:solidFill>
            <a:sysClr val="window" lastClr="FFFFFF"/>
          </a:solidFill>
          <a:ln w="15875" cap="flat" cmpd="sng" algn="ctr">
            <a:solidFill>
              <a:srgbClr val="2FA3EE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457200">
              <a:defRPr/>
            </a:pPr>
            <a:r>
              <a:rPr lang="en-US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endParaRPr lang="en-IN" sz="2400" kern="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851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2AF2DA7-1A0E-83B3-0509-665FC950C57D}"/>
              </a:ext>
            </a:extLst>
          </p:cNvPr>
          <p:cNvSpPr txBox="1"/>
          <p:nvPr/>
        </p:nvSpPr>
        <p:spPr>
          <a:xfrm>
            <a:off x="3982614" y="590262"/>
            <a:ext cx="42267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lgerian" panose="04020705040A02060702" pitchFamily="82" charset="0"/>
              </a:rPr>
              <a:t>TEXT </a:t>
            </a:r>
            <a:r>
              <a:rPr lang="en-US" sz="3200" dirty="0" err="1">
                <a:latin typeface="Algerian" panose="04020705040A02060702" pitchFamily="82" charset="0"/>
              </a:rPr>
              <a:t>extRACTion</a:t>
            </a:r>
            <a:endParaRPr lang="en-IN" sz="3200" dirty="0">
              <a:latin typeface="Algerian" panose="04020705040A02060702" pitchFamily="8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0A612E7F-7E77-A494-9D8B-014DE07260FC}"/>
              </a:ext>
            </a:extLst>
          </p:cNvPr>
          <p:cNvSpPr txBox="1"/>
          <p:nvPr/>
        </p:nvSpPr>
        <p:spPr>
          <a:xfrm>
            <a:off x="774441" y="1866122"/>
            <a:ext cx="1094480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800" dirty="0"/>
              <a:t>Text extraction is the first and most important step in this project, where raw resume documents are converted into machine-readable text.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8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800" dirty="0"/>
              <a:t>Resumes are collected in DOC and DOCX formats and processed automatically to extract their textual content.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8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800" dirty="0"/>
              <a:t>This step transforms unstructured resume files into structured data suitable for analysis and modeling.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800" dirty="0"/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800" dirty="0"/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47139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D971910-520A-8D40-8A5D-1451D6825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88" y="1097958"/>
            <a:ext cx="11029615" cy="3634486"/>
          </a:xfrm>
        </p:spPr>
        <p:txBody>
          <a:bodyPr>
            <a:normAutofit/>
          </a:bodyPr>
          <a:lstStyle/>
          <a:p>
            <a:r>
              <a:rPr lang="en-US" sz="2400" dirty="0"/>
              <a:t>Character count was computed to measure the total size of each extracted resume, including spaces.</a:t>
            </a:r>
          </a:p>
          <a:p>
            <a:r>
              <a:rPr lang="en-US" sz="2400" dirty="0"/>
              <a:t>The results show that resumes range between approximately 5,000 and 8,000 characters.</a:t>
            </a:r>
          </a:p>
          <a:p>
            <a:r>
              <a:rPr lang="en-US" sz="2400" dirty="0"/>
              <a:t>This confirms that important resume content has been preserved during extraction.</a:t>
            </a:r>
            <a:endParaRPr lang="en-I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28423D7-88AA-2705-CCDE-2371569D29E1}"/>
              </a:ext>
            </a:extLst>
          </p:cNvPr>
          <p:cNvSpPr txBox="1"/>
          <p:nvPr/>
        </p:nvSpPr>
        <p:spPr>
          <a:xfrm>
            <a:off x="3114866" y="587828"/>
            <a:ext cx="59622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CHARACTER COUNT ANALYSIS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202D03E5-436E-FD78-3E53-70A4C750B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358" y="4054980"/>
            <a:ext cx="7697274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122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89D5B69-BB54-97AD-117C-6EF50A728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602162"/>
            <a:ext cx="11029616" cy="1009139"/>
          </a:xfrm>
        </p:spPr>
        <p:txBody>
          <a:bodyPr/>
          <a:lstStyle/>
          <a:p>
            <a:r>
              <a:rPr kumimoji="0" lang="en-IN" sz="3200" b="0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gerian" panose="04020705040A02060702" pitchFamily="82" charset="0"/>
              </a:rPr>
              <a:t>Merging all category files</a:t>
            </a:r>
            <a:r>
              <a:rPr kumimoji="0" lang="en-IN" sz="3600" b="0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j-ea"/>
                <a:cs typeface="+mj-cs"/>
              </a:rPr>
              <a:t>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AA3CDD9-FDC2-6C5D-1D41-F7D574785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A1A0891C-D875-2FA7-47D2-FF1C3FB83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5" y="1620632"/>
            <a:ext cx="11705150" cy="471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69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7B40B2-0207-E5AC-6002-8E6043D7C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970014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latin typeface="Algerian" panose="04020705040A02060702" pitchFamily="82" charset="0"/>
              </a:rPr>
              <a:t>Converting text to .csv (Process)</a:t>
            </a:r>
            <a:r>
              <a:rPr lang="en-IN" sz="2800" dirty="0"/>
              <a:t/>
            </a:r>
            <a:br>
              <a:rPr lang="en-IN" sz="2800" dirty="0"/>
            </a:b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60D77570-CAA1-A412-263B-F1ED1C27A7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7077" y="1322222"/>
            <a:ext cx="10021077" cy="5334264"/>
          </a:xfrm>
        </p:spPr>
      </p:pic>
    </p:spTree>
    <p:extLst>
      <p:ext uri="{BB962C8B-B14F-4D97-AF65-F5344CB8AC3E}">
        <p14:creationId xmlns:p14="http://schemas.microsoft.com/office/powerpoint/2010/main" val="1704859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3A0F00-777E-9101-379A-BA6305E12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9823" y="537417"/>
            <a:ext cx="3272351" cy="834183"/>
          </a:xfrm>
        </p:spPr>
        <p:txBody>
          <a:bodyPr>
            <a:no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EDA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A295046-31CA-BE38-776F-0710E47B7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547" y="1235400"/>
            <a:ext cx="11399314" cy="5085183"/>
          </a:xfrm>
        </p:spPr>
        <p:txBody>
          <a:bodyPr/>
          <a:lstStyle/>
          <a:p>
            <a:r>
              <a:rPr lang="en-US" sz="2400" dirty="0"/>
              <a:t>Exploratory Data Analysis is performed to understand the structure, quality, and characteristics of the extracted resume dataset.</a:t>
            </a:r>
          </a:p>
          <a:p>
            <a:r>
              <a:rPr lang="en-US" sz="2400" dirty="0"/>
              <a:t>This step helps identify patterns, variations in resume length, and data readiness before model building.</a:t>
            </a:r>
          </a:p>
          <a:p>
            <a:r>
              <a:rPr lang="en-US" sz="2400" dirty="0"/>
              <a:t>EDA ensures that the dataset is suitable for Natural Language Processing and machine learning techniques.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5132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D5F414-9FB4-AEA5-2AB7-3FD3134D6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057" y="623012"/>
            <a:ext cx="4867886" cy="519276"/>
          </a:xfrm>
        </p:spPr>
        <p:txBody>
          <a:bodyPr>
            <a:normAutofit fontScale="90000"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DATASET CATEGORIES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57D1256-B602-2E57-B672-DEB1692B4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0922" y="1387172"/>
            <a:ext cx="6008916" cy="5470828"/>
          </a:xfrm>
        </p:spPr>
        <p:txBody>
          <a:bodyPr>
            <a:normAutofit/>
          </a:bodyPr>
          <a:lstStyle/>
          <a:p>
            <a:r>
              <a:rPr lang="en-US" sz="2400" dirty="0"/>
              <a:t>The dataset contains four distinct job categories extracted from resume folders.</a:t>
            </a:r>
          </a:p>
          <a:p>
            <a:r>
              <a:rPr lang="en-US" sz="2400" dirty="0"/>
              <a:t>These categories include Peoplesoft Resume, React Developer, SQL Developer, and Workday.</a:t>
            </a:r>
          </a:p>
          <a:p>
            <a:r>
              <a:rPr lang="en-US" sz="2400" dirty="0"/>
              <a:t>This confirms that resumes are clearly labeled for supervised classification.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BFA8733-5F25-C66F-DEB5-1789C40F6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02" y="1335292"/>
            <a:ext cx="5847819" cy="489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934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16AE63-8AA5-5B55-7332-E9B779F7B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5383" y="690465"/>
            <a:ext cx="4821232" cy="519276"/>
          </a:xfrm>
        </p:spPr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WORD COUNT DISTRIBUTION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7781BA58-CE6C-4DCF-1615-059AF9C893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75120"/>
            <a:ext cx="6270171" cy="471777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6A4BC0B6-A42E-B8B1-AB5B-3898A118E4BA}"/>
              </a:ext>
            </a:extLst>
          </p:cNvPr>
          <p:cNvSpPr txBox="1"/>
          <p:nvPr/>
        </p:nvSpPr>
        <p:spPr>
          <a:xfrm>
            <a:off x="6578082" y="1660907"/>
            <a:ext cx="518782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This slide shows the distribution of resumes based on the number of words present in each resume.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The graph indicates that most resumes contain a substantial number of words, while a few resumes are comparatively shorter or longer.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This variation highlights differences in resume writing styles and experience levels.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9660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6942B1-7B91-EFAD-2CC2-F9FD186D5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0028" y="887403"/>
            <a:ext cx="4671943" cy="463292"/>
          </a:xfrm>
        </p:spPr>
        <p:txBody>
          <a:bodyPr>
            <a:no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AVERAGE WORD COUNT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AB6AD4CB-4BC5-642F-B223-539254062C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69748"/>
            <a:ext cx="6645076" cy="483325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6160A0E-D9C0-16A3-CC33-FB68ADE15EFB}"/>
              </a:ext>
            </a:extLst>
          </p:cNvPr>
          <p:cNvSpPr txBox="1"/>
          <p:nvPr/>
        </p:nvSpPr>
        <p:spPr>
          <a:xfrm>
            <a:off x="6503437" y="1694933"/>
            <a:ext cx="517579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This slide shows the average word count across all resumes in the dataset.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The average value indicates that resumes are sufficiently descriptive and information-rich.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This confirms that the dataset is suitable for TF-IDF and NLP processing.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3627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3B4DF8-7298-8925-35F7-4C82D87E6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8955" y="709126"/>
            <a:ext cx="6454089" cy="621912"/>
          </a:xfrm>
        </p:spPr>
        <p:txBody>
          <a:bodyPr>
            <a:noAutofit/>
          </a:bodyPr>
          <a:lstStyle/>
          <a:p>
            <a:r>
              <a:rPr lang="en-US" sz="3200" dirty="0">
                <a:latin typeface="Algerian" panose="04020705040A02060702" pitchFamily="82" charset="0"/>
              </a:rPr>
              <a:t>WORD CLOUD FOR ALL RESUMES</a:t>
            </a:r>
            <a:endParaRPr lang="en-IN" sz="3200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A6CE0A66-8DBD-6755-4FDD-1ECCA2AB8D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000" y="1573634"/>
            <a:ext cx="6341461" cy="498254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A841DA2-491B-3A76-39D8-2434C94CDC2D}"/>
              </a:ext>
            </a:extLst>
          </p:cNvPr>
          <p:cNvSpPr txBox="1"/>
          <p:nvPr/>
        </p:nvSpPr>
        <p:spPr>
          <a:xfrm>
            <a:off x="6587412" y="1912776"/>
            <a:ext cx="524380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The word cloud visually represents the most frequently occurring words across all resumes.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It highlights common skills, technologies, and domain-related keywords.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This provides an intuitive understanding of dominant terms in the dataset.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7222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57E370-DB8C-97F7-267E-6373707F9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170" y="839754"/>
            <a:ext cx="6536304" cy="1147667"/>
          </a:xfrm>
        </p:spPr>
        <p:txBody>
          <a:bodyPr>
            <a:noAutofit/>
          </a:bodyPr>
          <a:lstStyle/>
          <a:p>
            <a:r>
              <a:rPr lang="en-IN" sz="3600" dirty="0">
                <a:latin typeface="Algerian" panose="04020705040A02060702" pitchFamily="82" charset="0"/>
              </a:rPr>
              <a:t>MODEL BUILDING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2827AE6-2CBC-FE69-D100-AE5C4619D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989045"/>
            <a:ext cx="11138057" cy="5868955"/>
          </a:xfrm>
        </p:spPr>
        <p:txBody>
          <a:bodyPr>
            <a:normAutofit/>
          </a:bodyPr>
          <a:lstStyle/>
          <a:p>
            <a:r>
              <a:rPr lang="en-US" sz="2800" dirty="0"/>
              <a:t>Model building is the stage where machine learning algorithms are trained to classify resumes into job categories.</a:t>
            </a:r>
          </a:p>
          <a:p>
            <a:r>
              <a:rPr lang="en-US" sz="2800" dirty="0"/>
              <a:t>In this phase, the processed resume text is converted into numerical features and used to train multiple classification models.</a:t>
            </a:r>
          </a:p>
          <a:p>
            <a:r>
              <a:rPr lang="en-US" sz="2800" dirty="0"/>
              <a:t>The goal is to identify the model that provides the best performance.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510084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1BC667-16EE-C808-4BE1-DB312E2AE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1044" y="849085"/>
            <a:ext cx="7208108" cy="746449"/>
          </a:xfrm>
        </p:spPr>
        <p:txBody>
          <a:bodyPr>
            <a:no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FEATURE EXTRACTION USING TF-IDF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EDB8E49-6683-0ECA-ED8E-23BD9B46F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32953"/>
            <a:ext cx="11029615" cy="3634486"/>
          </a:xfrm>
        </p:spPr>
        <p:txBody>
          <a:bodyPr>
            <a:normAutofit/>
          </a:bodyPr>
          <a:lstStyle/>
          <a:p>
            <a:r>
              <a:rPr lang="en-US" sz="2800" dirty="0"/>
              <a:t>TF-IDF vectorization is used to transform resume text into numerical features.</a:t>
            </a:r>
          </a:p>
          <a:p>
            <a:r>
              <a:rPr lang="en-US" sz="2800" dirty="0"/>
              <a:t>This technique assigns higher importance to relevant words while reducing the effect of commonly occurring terms.</a:t>
            </a:r>
          </a:p>
          <a:p>
            <a:r>
              <a:rPr lang="en-US" sz="2800" dirty="0"/>
              <a:t>It helps machine learning models effectively learn patterns from textual data.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763611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D15303C-F589-31C3-D4D0-A553165A9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6529" y="882650"/>
            <a:ext cx="6638940" cy="537937"/>
          </a:xfrm>
        </p:spPr>
        <p:txBody>
          <a:bodyPr>
            <a:no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MODEL EVALUATION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8A1D8E4-42A3-9BEB-9C31-C4D7F25F9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420587"/>
            <a:ext cx="11029615" cy="4554763"/>
          </a:xfrm>
        </p:spPr>
        <p:txBody>
          <a:bodyPr>
            <a:normAutofit/>
          </a:bodyPr>
          <a:lstStyle/>
          <a:p>
            <a:r>
              <a:rPr lang="en-US" sz="2800" dirty="0"/>
              <a:t>Multiple machine learning models were trained and evaluated to identify the best classifier for resume classification.</a:t>
            </a:r>
          </a:p>
          <a:p>
            <a:r>
              <a:rPr lang="en-US" sz="2800" dirty="0"/>
              <a:t>Each model was tested using standard performance metrics such as accuracy, precision, recall, and F1-score.</a:t>
            </a:r>
          </a:p>
          <a:p>
            <a:r>
              <a:rPr lang="en-US" sz="2800" dirty="0"/>
              <a:t>This comparison helps ensure that the final model is both accurate and reliable.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5607699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CE5287-005F-4933-380B-8EDEFCD4D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273" y="606548"/>
            <a:ext cx="7620416" cy="912311"/>
          </a:xfrm>
        </p:spPr>
        <p:txBody>
          <a:bodyPr>
            <a:no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MODEL PERFORMANCE COMPARISON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90116B5F-AD3C-4DF4-2326-DDD97028EF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12106"/>
            <a:ext cx="6279501" cy="435948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7FBEC99-C939-1582-C96E-CCF60711E321}"/>
              </a:ext>
            </a:extLst>
          </p:cNvPr>
          <p:cNvSpPr txBox="1"/>
          <p:nvPr/>
        </p:nvSpPr>
        <p:spPr>
          <a:xfrm>
            <a:off x="6699380" y="1819469"/>
            <a:ext cx="5159828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This slide presents a comparison of multiple classifiers including KNN, Decision Tree, Random Forest, SVM, Logistic Regression, and ensemble models.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The table shows both training and testing performance along with precision, recall, and F1-score.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This provides a complete view of how each model performs on unseen data.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59432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745C6C-BA00-B23A-97FF-9866555AF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43" y="783770"/>
            <a:ext cx="7916302" cy="811762"/>
          </a:xfrm>
        </p:spPr>
        <p:txBody>
          <a:bodyPr>
            <a:no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LOW &amp; MODERATE PERFORMING MODELS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xmlns="" id="{932CB9B2-A869-E797-70B4-266F5932A2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967" y="1996752"/>
            <a:ext cx="6148874" cy="4077478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D98EFC9-D261-3F9F-D71F-5909449C43BB}"/>
              </a:ext>
            </a:extLst>
          </p:cNvPr>
          <p:cNvSpPr txBox="1"/>
          <p:nvPr/>
        </p:nvSpPr>
        <p:spPr>
          <a:xfrm>
            <a:off x="6447454" y="2258009"/>
            <a:ext cx="54584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KNN and AdaBoost classifiers show comparatively lower test accuracy and F1-score.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This indicates that these models are not able to capture resume text patterns effectively.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Such models were therefore not considered suitable for final deployment.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740330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993A8F-3FC0-888B-BDCC-B5AB952AC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36" y="709127"/>
            <a:ext cx="6920620" cy="51131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800" dirty="0">
                <a:latin typeface="Algerian" panose="04020705040A02060702" pitchFamily="82" charset="0"/>
              </a:rPr>
              <a:t>FINAL MODEL SELECTION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600" dirty="0"/>
              <a:t>The Decision Tree classifier was selected as the final model for deployment.</a:t>
            </a:r>
          </a:p>
          <a:p>
            <a:r>
              <a:rPr lang="en-US" sz="2600" dirty="0"/>
              <a:t>It achieved perfect training and testing accuracy along with precision, recall, and F1-score of 1.00.</a:t>
            </a:r>
          </a:p>
          <a:p>
            <a:r>
              <a:rPr lang="en-US" sz="2600" dirty="0"/>
              <a:t>Additionally, it provides easy interpretability, making it suitable for real-world HR applications.</a:t>
            </a:r>
            <a:endParaRPr lang="en-IN" sz="2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B7BFD7C-A770-5CA3-7A18-59BFDD68FA50}"/>
              </a:ext>
            </a:extLst>
          </p:cNvPr>
          <p:cNvSpPr txBox="1"/>
          <p:nvPr/>
        </p:nvSpPr>
        <p:spPr>
          <a:xfrm>
            <a:off x="6594049" y="466531"/>
            <a:ext cx="53340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lgerian" panose="04020705040A02060702" pitchFamily="82" charset="0"/>
              </a:rPr>
              <a:t>REASON FOR HIGH ACCURACY IN MULTIPLE MODELS</a:t>
            </a:r>
          </a:p>
          <a:p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Several machine learning models achieved very high or perfect accuracy because the resume dataset is well-structured and clearly labeled.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The job categories contain distinct keywords and skill patterns, which makes them easily separable by tree-based and probabilistic models.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This clear separation allows models like Decision Tree, Random Forest, and Naive Bayes to classify resumes very effectively.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599890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BE0694C-40A9-18DE-BD54-D62B2A586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6719" y="1087924"/>
            <a:ext cx="5561257" cy="992803"/>
          </a:xfrm>
        </p:spPr>
        <p:txBody>
          <a:bodyPr>
            <a:noAutofit/>
          </a:bodyPr>
          <a:lstStyle/>
          <a:p>
            <a:r>
              <a:rPr lang="en-IN" sz="3600" dirty="0">
                <a:latin typeface="Algerian" panose="04020705040A02060702" pitchFamily="82" charset="0"/>
              </a:rPr>
              <a:t>DEPLOYMENT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FF43A8F-2152-CF40-4C87-C61815EC5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80727"/>
            <a:ext cx="11029615" cy="3894623"/>
          </a:xfrm>
        </p:spPr>
        <p:txBody>
          <a:bodyPr>
            <a:normAutofit/>
          </a:bodyPr>
          <a:lstStyle/>
          <a:p>
            <a:r>
              <a:rPr lang="en-US" sz="2800" dirty="0"/>
              <a:t>The deployment phase converts the trained resume classification model into a usable application.</a:t>
            </a:r>
          </a:p>
          <a:p>
            <a:r>
              <a:rPr lang="en-US" sz="2800" dirty="0"/>
              <a:t>It allows users to upload resumes and receive job category predictions in real time.</a:t>
            </a:r>
          </a:p>
          <a:p>
            <a:r>
              <a:rPr lang="en-US" sz="2800" dirty="0"/>
              <a:t>This step bridges the gap between model development and real-world HR usage.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813016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5289104-13FA-1FB0-9A7A-9E5789B8B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9771" y="634482"/>
            <a:ext cx="11029616" cy="1054359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Algerian" panose="04020705040A02060702" pitchFamily="82" charset="0"/>
              </a:rPr>
              <a:t>APPLICATION FUNCTIONALITY &amp;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319D544-930B-4AE9-515C-CC12100D8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688841"/>
            <a:ext cx="11029615" cy="4286509"/>
          </a:xfrm>
        </p:spPr>
        <p:txBody>
          <a:bodyPr>
            <a:normAutofit/>
          </a:bodyPr>
          <a:lstStyle/>
          <a:p>
            <a:r>
              <a:rPr lang="en-US" sz="2800" dirty="0"/>
              <a:t>The deployed application supports resume uploads and automatically predicts the relevant job role.</a:t>
            </a:r>
          </a:p>
          <a:p>
            <a:r>
              <a:rPr lang="en-US" sz="2800" dirty="0"/>
              <a:t>It reduces manual screening effort and speeds up the recruitment process.</a:t>
            </a:r>
          </a:p>
          <a:p>
            <a:r>
              <a:rPr lang="en-US" sz="2800" dirty="0"/>
              <a:t>The system is efficient, scalable, and easy to use for HR professionals.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1241935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F75806-A0F5-16E1-BF57-76343AF1B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400" y="238837"/>
            <a:ext cx="4933200" cy="799194"/>
          </a:xfrm>
        </p:spPr>
        <p:txBody>
          <a:bodyPr>
            <a:norm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APPLICATION INTERFACE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xmlns="" id="{F0B8E37B-8233-8A28-6F7F-033E82EECD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741" y="1038031"/>
            <a:ext cx="6585944" cy="2858004"/>
          </a:xfr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xmlns="" id="{A52B2C34-AE81-166B-8D3F-7BA665905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41" y="4105469"/>
            <a:ext cx="6585944" cy="267788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20E342C9-0B35-8163-7D68-7A35F87AAB51}"/>
              </a:ext>
            </a:extLst>
          </p:cNvPr>
          <p:cNvSpPr txBox="1"/>
          <p:nvPr/>
        </p:nvSpPr>
        <p:spPr>
          <a:xfrm>
            <a:off x="7165910" y="1894114"/>
            <a:ext cx="446003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The working interface of the deployed resume classification system.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The interface is simple and interactive, allowing quick resume uploads and result viewing.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It demonstrates the practical usability of the developed solution.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877458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2F31514-0395-718F-8DFE-23879FD68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5710" y="621910"/>
            <a:ext cx="7362062" cy="970385"/>
          </a:xfrm>
        </p:spPr>
        <p:txBody>
          <a:bodyPr>
            <a:noAutofit/>
          </a:bodyPr>
          <a:lstStyle/>
          <a:p>
            <a:r>
              <a:rPr lang="en-US" dirty="0">
                <a:latin typeface="Algerian" panose="04020705040A02060702" pitchFamily="82" charset="0"/>
              </a:rPr>
              <a:t>CHALLENGES FACED DURING THE PROJECT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0796629-F692-5C7D-12FF-6F7A84C5E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572" y="1685601"/>
            <a:ext cx="11246913" cy="5377671"/>
          </a:xfrm>
        </p:spPr>
        <p:txBody>
          <a:bodyPr>
            <a:normAutofit/>
          </a:bodyPr>
          <a:lstStyle/>
          <a:p>
            <a:r>
              <a:rPr lang="en-US" sz="2000" dirty="0"/>
              <a:t>Our major challenge was handling resumes with different formats, layouts, and writing styles, which affected text extraction consistency.</a:t>
            </a:r>
          </a:p>
          <a:p>
            <a:r>
              <a:rPr lang="en-US" sz="2000" dirty="0"/>
              <a:t>Special characters, extra spaces, and formatting noise required careful preprocessing to ensure clean textual data.</a:t>
            </a:r>
          </a:p>
          <a:p>
            <a:r>
              <a:rPr lang="en-US" sz="2000" dirty="0"/>
              <a:t>Another challenge was selecting the most suitable machine learning model when multiple models showed very high accuracy.</a:t>
            </a:r>
          </a:p>
          <a:p>
            <a:r>
              <a:rPr lang="en-US" sz="2000" dirty="0"/>
              <a:t>Avoiding overfitting and ensuring the model generalized well to unseen resumes was an important consideration.</a:t>
            </a:r>
          </a:p>
          <a:p>
            <a:r>
              <a:rPr lang="en-US" sz="2000" dirty="0"/>
              <a:t>Finally, deploying the model in a user-friendly application without exposing technical complexity required careful design.</a:t>
            </a:r>
            <a:br>
              <a:rPr lang="en-US" sz="2000" dirty="0"/>
            </a:br>
            <a:r>
              <a:rPr lang="en-US" sz="2000" dirty="0"/>
              <a:t>Despite these challenges, all issues were successfully addressed through systematic preprocessing, evaluation, and testing.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629328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4D2D59-4724-6F07-FF2B-43C3DBC7D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E13230CF-828E-1118-B909-572E6C7A53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734561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Aspect">
      <a:dk1>
        <a:sysClr val="windowText" lastClr="000000"/>
      </a:dk1>
      <a:lt1>
        <a:sysClr val="window" lastClr="FFFFFF"/>
      </a:lt1>
      <a:dk2>
        <a:srgbClr val="585753"/>
      </a:dk2>
      <a:lt2>
        <a:srgbClr val="EBDDC3"/>
      </a:lt2>
      <a:accent1>
        <a:srgbClr val="71B9E4"/>
      </a:accent1>
      <a:accent2>
        <a:srgbClr val="E25D3C"/>
      </a:accent2>
      <a:accent3>
        <a:srgbClr val="BDB59D"/>
      </a:accent3>
      <a:accent4>
        <a:srgbClr val="A5AB81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56C3F92-CC28-42D8-BF09-0770755510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116C154-5A0F-4CDC-8C15-D2E21584649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A6D3478-2986-4664-940C-67E0CAA21E04}">
  <ds:schemaRefs>
    <ds:schemaRef ds:uri="http://schemas.microsoft.com/office/2006/documentManagement/types"/>
    <ds:schemaRef ds:uri="http://purl.org/dc/terms/"/>
    <ds:schemaRef ds:uri="71af3243-3dd4-4a8d-8c0d-dd76da1f02a5"/>
    <ds:schemaRef ds:uri="http://schemas.microsoft.com/office/2006/metadata/properties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16c05727-aa75-4e4a-9b5f-8a80a1165891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{43969F7E-D951-4629-B3E2-667C3A73D8D8}tf56535239_win32</Template>
  <TotalTime>317</TotalTime>
  <Words>1165</Words>
  <Application>Microsoft Office PowerPoint</Application>
  <PresentationFormat>Widescreen</PresentationFormat>
  <Paragraphs>108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Algerian</vt:lpstr>
      <vt:lpstr>Bahnschrift</vt:lpstr>
      <vt:lpstr>Calibri</vt:lpstr>
      <vt:lpstr>Century Schoolbook</vt:lpstr>
      <vt:lpstr>Franklin Gothic Book</vt:lpstr>
      <vt:lpstr>Franklin Gothic Demi</vt:lpstr>
      <vt:lpstr>Times New Roman</vt:lpstr>
      <vt:lpstr>Tw Cen MT</vt:lpstr>
      <vt:lpstr>Wingdings</vt:lpstr>
      <vt:lpstr>Wingdings 2</vt:lpstr>
      <vt:lpstr>DividendVTI</vt:lpstr>
      <vt:lpstr>Resume Classification</vt:lpstr>
      <vt:lpstr>Team members</vt:lpstr>
      <vt:lpstr>Business Objective </vt:lpstr>
      <vt:lpstr>DATASET DETAILS</vt:lpstr>
      <vt:lpstr>Project architecture</vt:lpstr>
      <vt:lpstr>PowerPoint Presentation</vt:lpstr>
      <vt:lpstr>PowerPoint Presentation</vt:lpstr>
      <vt:lpstr>Merging all category files.</vt:lpstr>
      <vt:lpstr>Converting text to .csv (Process) </vt:lpstr>
      <vt:lpstr>EDA OVERVIEW</vt:lpstr>
      <vt:lpstr>DATASET CATEGORIES </vt:lpstr>
      <vt:lpstr>WORD COUNT DISTRIBUTION</vt:lpstr>
      <vt:lpstr>AVERAGE WORD COUNT</vt:lpstr>
      <vt:lpstr>WORD CLOUD FOR ALL RESUMES</vt:lpstr>
      <vt:lpstr>MODEL BUILDING OVERVIEW</vt:lpstr>
      <vt:lpstr>FEATURE EXTRACTION USING TF-IDF</vt:lpstr>
      <vt:lpstr>MODEL EVALUATION OVERVIEW</vt:lpstr>
      <vt:lpstr>MODEL PERFORMANCE COMPARISON</vt:lpstr>
      <vt:lpstr>LOW &amp; MODERATE PERFORMING MODELS</vt:lpstr>
      <vt:lpstr>PowerPoint Presentation</vt:lpstr>
      <vt:lpstr>DEPLOYMENT OVERVIEW</vt:lpstr>
      <vt:lpstr>APPLICATION FUNCTIONALITY &amp; BENEFITS</vt:lpstr>
      <vt:lpstr>APPLICATION INTERFACE</vt:lpstr>
      <vt:lpstr>CHALLENGES FACED DURING THE PROJECT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 Classification</dc:title>
  <dc:creator>Prajwal Ambure</dc:creator>
  <cp:lastModifiedBy>User</cp:lastModifiedBy>
  <cp:revision>40</cp:revision>
  <dcterms:created xsi:type="dcterms:W3CDTF">2023-03-09T05:27:04Z</dcterms:created>
  <dcterms:modified xsi:type="dcterms:W3CDTF">2025-12-18T18:39:54Z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